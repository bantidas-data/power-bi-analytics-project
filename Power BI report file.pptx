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109728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102412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RLS-Enabled Regional Sales
&amp; Profit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461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DCE6F0"/>
                </a:solidFill>
              </a:rPr>
              <a:t>Power BI Project-Based Assignment</a:t>
            </a:r>
          </a:p>
          <a:p>
            <a:r>
              <a:rPr sz="1400">
                <a:solidFill>
                  <a:srgbClr val="BECDDC"/>
                </a:solidFill>
              </a:rPr>
              <a:t>Client-style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5806440"/>
            <a:ext cx="41649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BECDDC"/>
                </a:solidFill>
              </a:rPr>
              <a:t>Prepared from the submitted Power BI report and Superstore dataset</a:t>
            </a:r>
            <a:endParaRPr lang="en-US" sz="1100" dirty="0">
              <a:solidFill>
                <a:srgbClr val="BECDDC"/>
              </a:solidFill>
            </a:endParaRPr>
          </a:p>
          <a:p>
            <a:r>
              <a:rPr lang="en-US" sz="1100" dirty="0">
                <a:solidFill>
                  <a:srgbClr val="BECDDC"/>
                </a:solidFill>
              </a:rPr>
              <a:t>Prepared by : Kumar Banti Das</a:t>
            </a:r>
            <a:endParaRPr sz="1100" dirty="0">
              <a:solidFill>
                <a:srgbClr val="BECDD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04E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Key business measures from the Power BI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1460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024128"/>
          </a:xfrm>
          <a:prstGeom prst="rect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533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6420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₹104.9 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34440"/>
            <a:ext cx="251460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73152" cy="10241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13533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66420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₹12.2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51460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7880" y="1234440"/>
            <a:ext cx="73152" cy="1024128"/>
          </a:xfrm>
          <a:prstGeom prst="rect">
            <a:avLst/>
          </a:prstGeom>
          <a:solidFill>
            <a:srgbClr val="CD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62472" y="13533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PROFIT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166420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11.6%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234440"/>
            <a:ext cx="251460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49640" y="1234440"/>
            <a:ext cx="73152" cy="1024128"/>
          </a:xfrm>
          <a:prstGeom prst="rect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13533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TOTAL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166420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51,242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06040"/>
            <a:ext cx="53949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2715768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What the dashboard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063240"/>
            <a:ext cx="508748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323"/>
                </a:solidFill>
              </a:rPr>
              <a:t>The report brings sales, profit, customers, products, delivery performance and </a:t>
            </a:r>
            <a:endParaRPr lang="en-US" sz="1200" dirty="0">
              <a:solidFill>
                <a:srgbClr val="232323"/>
              </a:solidFill>
            </a:endParaRPr>
          </a:p>
          <a:p>
            <a:r>
              <a:rPr sz="1200" dirty="0">
                <a:solidFill>
                  <a:srgbClr val="232323"/>
                </a:solidFill>
              </a:rPr>
              <a:t>regional manager performance into one interactive Power BI solution.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606040"/>
            <a:ext cx="53492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271576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Headline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063240"/>
            <a:ext cx="491211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323"/>
                </a:solidFill>
              </a:rPr>
              <a:t>Technology is the largest sales category and North is the strongest region by</a:t>
            </a:r>
            <a:endParaRPr lang="en-US" sz="1200" dirty="0">
              <a:solidFill>
                <a:srgbClr val="232323"/>
              </a:solidFill>
            </a:endParaRPr>
          </a:p>
          <a:p>
            <a:r>
              <a:rPr sz="1200" dirty="0">
                <a:solidFill>
                  <a:srgbClr val="232323"/>
                </a:solidFill>
              </a:rPr>
              <a:t> both sales and profit. The Consumer segment contributes the largest share</a:t>
            </a:r>
            <a:endParaRPr lang="en-US" sz="1200" dirty="0">
              <a:solidFill>
                <a:srgbClr val="232323"/>
              </a:solidFill>
            </a:endParaRPr>
          </a:p>
          <a:p>
            <a:r>
              <a:rPr sz="1200" dirty="0">
                <a:solidFill>
                  <a:srgbClr val="232323"/>
                </a:solidFill>
              </a:rPr>
              <a:t> of sales.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60520"/>
            <a:ext cx="10881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" y="4270248"/>
            <a:ext cx="10561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Management 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617720"/>
            <a:ext cx="10561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323"/>
                </a:solidFill>
              </a:rPr>
              <a:t>Use the product/discount view to control loss-making products, and use the region/manager view to focus coaching and territory improvement.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7D"/>
                </a:solidFill>
              </a:rPr>
              <a:t>RLS-Enabled Regional Sales &amp; Profit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04E"/>
                </a:solidFill>
              </a:rPr>
              <a:t>Power BI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The submitted PBIX contains the requested analytical pages and supporting interactive pages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1673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16152"/>
            <a:ext cx="4663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04E"/>
                </a:solidFill>
              </a:rPr>
              <a:t>Sales Overview</a:t>
            </a:r>
          </a:p>
          <a:p>
            <a:r>
              <a:rPr sz="1100">
                <a:solidFill>
                  <a:srgbClr val="232323"/>
                </a:solidFill>
              </a:rPr>
              <a:t>KPIs, category/sub-category, state map, monthly trend and product ranking</a:t>
            </a:r>
          </a:p>
        </p:txBody>
      </p:sp>
      <p:sp>
        <p:nvSpPr>
          <p:cNvPr id="8" name="Oval 7"/>
          <p:cNvSpPr/>
          <p:nvPr/>
        </p:nvSpPr>
        <p:spPr>
          <a:xfrm>
            <a:off x="6126480" y="1234440"/>
            <a:ext cx="502920" cy="502920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31673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216152"/>
            <a:ext cx="4663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04E"/>
                </a:solidFill>
              </a:rPr>
              <a:t>Customer Insights</a:t>
            </a:r>
          </a:p>
          <a:p>
            <a:r>
              <a:rPr sz="1100">
                <a:solidFill>
                  <a:srgbClr val="232323"/>
                </a:solidFill>
              </a:rPr>
              <a:t>Customer segmentation, top/bottom customers and region vs customer sales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82549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24912"/>
            <a:ext cx="4663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04E"/>
                </a:solidFill>
              </a:rPr>
              <a:t>Product &amp; Discount Impact</a:t>
            </a:r>
          </a:p>
          <a:p>
            <a:r>
              <a:rPr sz="1100">
                <a:solidFill>
                  <a:srgbClr val="232323"/>
                </a:solidFill>
              </a:rPr>
              <a:t>Discount vs profit scatter, product ranking and delivery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2743200"/>
            <a:ext cx="502920" cy="502920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282549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724912"/>
            <a:ext cx="4663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04E"/>
                </a:solidFill>
              </a:rPr>
              <a:t>Region &amp; Manager View</a:t>
            </a:r>
          </a:p>
          <a:p>
            <a:r>
              <a:rPr sz="1100">
                <a:solidFill>
                  <a:srgbClr val="232323"/>
                </a:solidFill>
              </a:rPr>
              <a:t>Region → State → City analysis, regional comparison and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33425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33672"/>
            <a:ext cx="4663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04E"/>
                </a:solidFill>
              </a:rPr>
              <a:t>Customer / Region Profiles</a:t>
            </a:r>
          </a:p>
          <a:p>
            <a:r>
              <a:rPr sz="1100">
                <a:solidFill>
                  <a:srgbClr val="232323"/>
                </a:solidFill>
              </a:rPr>
              <a:t>Drill-through style profile pages for deeper investigation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4251960"/>
            <a:ext cx="502920" cy="502920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433425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233672"/>
            <a:ext cx="4663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304E"/>
                </a:solidFill>
              </a:rPr>
              <a:t>Custom Tooltips</a:t>
            </a:r>
          </a:p>
          <a:p>
            <a:r>
              <a:rPr sz="1100">
                <a:solidFill>
                  <a:srgbClr val="232323"/>
                </a:solidFill>
              </a:rPr>
              <a:t>Customer and product tooltip pages for contextual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7D"/>
                </a:solidFill>
              </a:rPr>
              <a:t>RLS-Enabled Regional Sales &amp; Profit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8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04E"/>
                </a:solidFill>
              </a:rPr>
              <a:t>Page 1 — Sales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Performance snapshot across category, geography and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5224038"/>
            <a:ext cx="108813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5184648"/>
            <a:ext cx="10561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5532120"/>
            <a:ext cx="10561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323"/>
                </a:solidFill>
              </a:rPr>
              <a:t>• Technology leads sales at ₹39.4 Cr.
• North leads regions with ₹33.2 Cr sales and ₹3.7 Cr profit.
• The monthly trend supports seasonality monitoring and period-over-period performance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7D"/>
                </a:solidFill>
              </a:rPr>
              <a:t>RLS-Enabled Regional Sales &amp; Profit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73C5AF-EB4A-BB1E-4289-4D405F7F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508056"/>
            <a:ext cx="4321244" cy="24308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B82FF4-CC88-8EC1-0E13-B641C8C70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508056"/>
            <a:ext cx="4849618" cy="2430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04E"/>
                </a:solidFill>
              </a:rPr>
              <a:t>Page 2 — Customer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Identify the segments and customers creating the most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233172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46520" y="1325880"/>
            <a:ext cx="73152" cy="1024128"/>
          </a:xfrm>
          <a:prstGeom prst="rect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44475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TOP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17556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Consumer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325880"/>
            <a:ext cx="233172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06840" y="1325880"/>
            <a:ext cx="73152" cy="10241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71432" y="144475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CONSUMER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17556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₹54.0 Cr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46520" y="2788920"/>
          <a:ext cx="48920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304E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304E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304E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marL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Nikhil Sharma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₹18.8 L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₹-1.5 L</a:t>
                      </a:r>
                    </a:p>
                  </a:txBody>
                  <a:tcPr marL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Siddharth Bhattacharya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₹14.5 L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₹7.0 L</a:t>
                      </a:r>
                    </a:p>
                  </a:txBody>
                  <a:tcPr marL="548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Nikhil Ghosh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₹11.6 L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₹5.6 L</a:t>
                      </a:r>
                    </a:p>
                  </a:txBody>
                  <a:tcPr marL="548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Kavya Iyer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₹9.3 L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₹3.3 L</a:t>
                      </a:r>
                    </a:p>
                  </a:txBody>
                  <a:tcPr marL="548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Sana Bhattacharya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₹8.7 L</a:t>
                      </a:r>
                    </a:p>
                  </a:txBody>
                  <a:tcPr marL="54864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323"/>
                          </a:solidFill>
                        </a:defRPr>
                      </a:pPr>
                      <a:r>
                        <a:t>₹4.2 L</a:t>
                      </a:r>
                    </a:p>
                  </a:txBody>
                  <a:tcPr marL="5486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40080" y="5257800"/>
            <a:ext cx="1088136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5367528"/>
            <a:ext cx="10561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Business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715000"/>
            <a:ext cx="10561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323"/>
                </a:solidFill>
              </a:rPr>
              <a:t>Prioritize retention and cross-sell strategies for high-value customers while monitoring low-value or low-profit accounts through the customer drill-through 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7D"/>
                </a:solidFill>
              </a:rPr>
              <a:t>RLS-Enabled Regional Sales &amp; Profit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16D1D4-50E6-776C-9FF4-6C7375A45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00556"/>
            <a:ext cx="3474720" cy="23027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04E"/>
                </a:solidFill>
              </a:rPr>
              <a:t>Page 3 — Product &amp; Discount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Connect pricing decisions with profitability and delivery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2468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Top sales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91640"/>
            <a:ext cx="4892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323"/>
                </a:solidFill>
              </a:rPr>
              <a:t>1. Bookcases - India — ₹12.17 Cr
2. Machines - India — ₹6.47 Cr
3. Tables - India — ₹6.28 Cr
4. Canon ImageRunner Copier — ₹4.89 Cr
5. HP LaserJet Printer — ₹3.84 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394960" cy="2468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344168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Loss / risk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691640"/>
            <a:ext cx="47430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323"/>
                </a:solidFill>
              </a:rPr>
              <a:t>Tables - India is the only product with negative total profit in the supplied</a:t>
            </a:r>
            <a:endParaRPr lang="en-US" sz="1200" dirty="0">
              <a:solidFill>
                <a:srgbClr val="232323"/>
              </a:solidFill>
            </a:endParaRPr>
          </a:p>
          <a:p>
            <a:r>
              <a:rPr sz="1200" dirty="0">
                <a:solidFill>
                  <a:srgbClr val="232323"/>
                </a:solidFill>
              </a:rPr>
              <a:t> dataset (≈ ₹0.53 Cr loss). This is a strong candidate for pricing, discount</a:t>
            </a:r>
            <a:endParaRPr lang="en-US" sz="1200" dirty="0">
              <a:solidFill>
                <a:srgbClr val="232323"/>
              </a:solidFill>
            </a:endParaRPr>
          </a:p>
          <a:p>
            <a:r>
              <a:rPr sz="1200" dirty="0">
                <a:solidFill>
                  <a:srgbClr val="232323"/>
                </a:solidFill>
              </a:rPr>
              <a:t> and cost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320040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73152" cy="1024128"/>
          </a:xfrm>
          <a:prstGeom prst="rect">
            <a:avLst/>
          </a:prstGeom>
          <a:solidFill>
            <a:srgbClr val="CD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4096511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AVERAGE DELIVERY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407407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17.5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977639"/>
            <a:ext cx="320040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23360" y="3977639"/>
            <a:ext cx="73152" cy="1024128"/>
          </a:xfrm>
          <a:prstGeom prst="rect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87952" y="4096511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AVERAGE DISCOUNT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4407407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10.0%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977639"/>
            <a:ext cx="3200400" cy="102412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3977639"/>
            <a:ext cx="73152" cy="1024128"/>
          </a:xfrm>
          <a:prstGeom prst="rect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1" y="4096511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737D"/>
                </a:solidFill>
              </a:rPr>
              <a:t>NEGATIVE-PROFIT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4407407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04E"/>
                </a:solidFill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88136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5312664"/>
            <a:ext cx="10561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8304E"/>
                </a:solidFill>
              </a:rPr>
              <a:t>Recommended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215" y="5573375"/>
            <a:ext cx="103604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323"/>
                </a:solidFill>
              </a:rPr>
              <a:t>Use the scatter plot to flag products where discount is associated with weak profit, then review price, freight and product-level costs before increasing promotional</a:t>
            </a:r>
            <a:endParaRPr lang="en-US" sz="1200" dirty="0">
              <a:solidFill>
                <a:srgbClr val="232323"/>
              </a:solidFill>
            </a:endParaRPr>
          </a:p>
          <a:p>
            <a:r>
              <a:rPr sz="1200" dirty="0">
                <a:solidFill>
                  <a:srgbClr val="232323"/>
                </a:solidFill>
              </a:rPr>
              <a:t> intensity.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7D"/>
                </a:solidFill>
              </a:rPr>
              <a:t>RLS-Enabled Regional Sales &amp; Profit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04E"/>
                </a:solidFill>
              </a:rPr>
              <a:t>Page 4 — Region &amp; Manager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Territory performance for management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1234440"/>
          <a:ext cx="5074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8304E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8304E"/>
                          </a:solidFill>
                        </a:defRPr>
                      </a:pPr>
                      <a:r>
                        <a:t>Manager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8304E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8304E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marL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North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Aniket Sharma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₹33.2 Cr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₹3.7 Cr</a:t>
                      </a:r>
                    </a:p>
                  </a:txBody>
                  <a:tcPr marL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East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Yash Srivastava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₹24.2 Cr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₹2.9 Cr</a:t>
                      </a:r>
                    </a:p>
                  </a:txBody>
                  <a:tcPr marL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South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Harish Deshmukh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₹24.1 Cr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₹2.8 Cr</a:t>
                      </a:r>
                    </a:p>
                  </a:txBody>
                  <a:tcPr marL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West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Pragya Rathi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₹13.8 Cr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₹1.6 Cr</a:t>
                      </a:r>
                    </a:p>
                  </a:txBody>
                  <a:tcPr marL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Central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Nithin Chaturvedi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₹9.6 Cr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323"/>
                          </a:solidFill>
                        </a:defRPr>
                      </a:pPr>
                      <a:r>
                        <a:t>₹1.2 Cr</a:t>
                      </a:r>
                    </a:p>
                  </a:txBody>
                  <a:tcPr marL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55080" y="4526280"/>
            <a:ext cx="51663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463600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Management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4983480"/>
            <a:ext cx="50824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323"/>
                </a:solidFill>
              </a:rPr>
              <a:t>North / Aniket Sharma is the strongest territory in the supplied data.</a:t>
            </a:r>
            <a:endParaRPr lang="en-US" sz="1200" dirty="0">
              <a:solidFill>
                <a:srgbClr val="232323"/>
              </a:solidFill>
            </a:endParaRPr>
          </a:p>
          <a:p>
            <a:r>
              <a:rPr sz="1200" dirty="0">
                <a:solidFill>
                  <a:srgbClr val="232323"/>
                </a:solidFill>
              </a:rPr>
              <a:t> Central / Nithin Chaturvedi has the lowest sales and profit, making it a priority</a:t>
            </a:r>
            <a:endParaRPr lang="en-US" sz="1200" dirty="0">
              <a:solidFill>
                <a:srgbClr val="232323"/>
              </a:solidFill>
            </a:endParaRPr>
          </a:p>
          <a:p>
            <a:r>
              <a:rPr sz="1200" dirty="0">
                <a:solidFill>
                  <a:srgbClr val="232323"/>
                </a:solidFill>
              </a:rPr>
              <a:t> for territory-level investigation.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7D"/>
                </a:solidFill>
              </a:rPr>
              <a:t>RLS-Enabled Regional Sales &amp; Profit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2E11B1-5A61-DD63-1C74-8EE29F3AE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" y="1160526"/>
            <a:ext cx="4002112" cy="21770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-60843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04E"/>
                </a:solidFill>
              </a:rPr>
              <a:t>Advanced Power BI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Interactive capabilities visible in the submitted PBIX structure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15214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04E"/>
                </a:solidFill>
              </a:rPr>
              <a:t>Bookmarks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4300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Sales / Profit view switching is configured on the Region &amp; Manager page.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9019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04E"/>
                </a:solidFill>
              </a:rPr>
              <a:t>Drill-through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92808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Customer Profile and Region Profile pages support deeper contextual analysis.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88336"/>
            <a:ext cx="384048" cy="38404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6517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04E"/>
                </a:solidFill>
              </a:rPr>
              <a:t>Custom Tooltips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42616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Dedicated Customer Tooltip and Product Tooltip pages provide contextual detail.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438144"/>
            <a:ext cx="384048" cy="38404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40156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04E"/>
                </a:solidFill>
              </a:rPr>
              <a:t>Navigation Buttons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9242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The Region &amp; Manager page contains navigation action buttons.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187952"/>
            <a:ext cx="384048" cy="38404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415137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04E"/>
                </a:solidFill>
              </a:rPr>
              <a:t>Drill-down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4223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Region → State → City hierarchy is represented for territory exploration.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937759"/>
            <a:ext cx="384048" cy="38404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901183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04E"/>
                </a:solidFill>
              </a:rPr>
              <a:t>RLS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89204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The assignment requires static Regional Manager RLS; validate the role in Power BI Service before submission if not already tested.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" y="5542670"/>
            <a:ext cx="1078992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rgbClr val="232323"/>
                </a:solidFill>
              </a:rPr>
              <a:t>Because RLS is a mandatory assignment requirement, test each Regional Manager role in Power BI Service and capture evidence before final submission.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496950"/>
            <a:ext cx="10469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8304E"/>
                </a:solidFill>
              </a:rPr>
              <a:t>Submission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7D"/>
                </a:solidFill>
              </a:rPr>
              <a:t>RLS-Enabled Regional Sales &amp; Profit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04E"/>
                </a:solidFill>
              </a:rPr>
              <a:t>Key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7D"/>
                </a:solidFill>
              </a:rPr>
              <a:t>Actions management can take from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7899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B5C8C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07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Protect high-value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307592"/>
            <a:ext cx="6812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32323"/>
                </a:solidFill>
              </a:rPr>
              <a:t>Technology is the strongest category; protect availability and continue investment in profitable product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07899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B5C8C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6771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Review loss-making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267712"/>
            <a:ext cx="6812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32323"/>
                </a:solidFill>
              </a:rPr>
              <a:t>Tables - India shows a material product-level loss; review price, discount, shipping and procurement costs.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54680"/>
            <a:ext cx="107899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7355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B5C8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2783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Strengthen weaker territories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227832"/>
            <a:ext cx="6812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32323"/>
                </a:solidFill>
              </a:rPr>
              <a:t>Central is the lowest-performing region; drill to state/city level to identify the root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107899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23367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B5C8C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879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Retain top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187952"/>
            <a:ext cx="6812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32323"/>
                </a:solidFill>
              </a:rPr>
              <a:t>Consumer is the largest segment; prioritize retention, repeat purchase and cross-sell programs.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74920"/>
            <a:ext cx="1078992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19379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B5C8C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4807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8304E"/>
                </a:solidFill>
              </a:rPr>
              <a:t>Monitor delivery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148072"/>
            <a:ext cx="6812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32323"/>
                </a:solidFill>
              </a:rPr>
              <a:t>Use delivery-day analysis to identify delays and assess whether shipping performance affects customer experience.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37D"/>
                </a:solidFill>
              </a:rPr>
              <a:t>RLS-Enabled Regional Sales &amp; Profit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&amp; Final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Interactive Power BI report covering sales, customers, products, regions and managers.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Client-style insights focused on growth, profitability, customer value and territory performance.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Advanced interaction layer includes bookmarks, drill-through/profile pages, tooltips and navigation.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Final submission should include the .pbix file, this PPT deck and a concise insight summary.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Before publishing: validate mandatory RLS roles in Power BI Service and test each manager's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1014</Words>
  <Application>Microsoft Office PowerPoint</Application>
  <PresentationFormat>Widescreen</PresentationFormat>
  <Paragraphs>177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dibyalochan dandapat</dc:creator>
  <cp:keywords/>
  <dc:description>generated using python-pptx</dc:description>
  <cp:lastModifiedBy>dibyalochan dandapat</cp:lastModifiedBy>
  <cp:revision>3</cp:revision>
  <dcterms:created xsi:type="dcterms:W3CDTF">2013-01-27T09:14:16Z</dcterms:created>
  <dcterms:modified xsi:type="dcterms:W3CDTF">2026-08-26T17:00:32Z</dcterms:modified>
  <cp:category/>
</cp:coreProperties>
</file>